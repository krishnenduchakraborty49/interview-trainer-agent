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6IlciVWk4WXbyQa1vdRnOLDG1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4EDA28-DC3B-484F-B6F3-D5305C49B99C}">
  <a:tblStyle styleId="{8C4EDA28-DC3B-484F-B6F3-D5305C49B99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7c2a7de07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7c2a7de0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atsonx.ai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KrishnenduChakraborty49/Interview-Trainer-Agent.gi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 sz="6600"/>
              <a:t>IBM University Engagement Project Submission</a:t>
            </a:r>
            <a:br>
              <a:rPr b="1" lang="en-US"/>
            </a:br>
            <a:endParaRPr/>
          </a:p>
        </p:txBody>
      </p:sp>
      <p:sp>
        <p:nvSpPr>
          <p:cNvPr id="79" name="Google Shape;79;p33"/>
          <p:cNvSpPr txBox="1"/>
          <p:nvPr>
            <p:ph idx="1" type="body"/>
          </p:nvPr>
        </p:nvSpPr>
        <p:spPr>
          <a:xfrm>
            <a:off x="1014730" y="39036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   </a:t>
            </a:r>
            <a:r>
              <a:rPr b="1" lang="en-US"/>
              <a:t>       "Exploring the Power of Agentic AI with IBM Granite and Spring Boot"</a:t>
            </a:r>
            <a:r>
              <a:rPr lang="en-US"/>
              <a:t>  </a:t>
            </a:r>
            <a:endParaRPr b="1" i="1" u="sn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t/>
            </a:r>
            <a:endParaRPr b="1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2"/>
          <p:cNvGraphicFramePr/>
          <p:nvPr/>
        </p:nvGraphicFramePr>
        <p:xfrm>
          <a:off x="1299257" y="26003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{8C4EDA28-DC3B-484F-B6F3-D5305C49B99C}</a:tableStyleId>
              </a:tblPr>
              <a:tblGrid>
                <a:gridCol w="2064875"/>
                <a:gridCol w="2443375"/>
                <a:gridCol w="2443375"/>
                <a:gridCol w="2443375"/>
              </a:tblGrid>
              <a:tr h="97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Student Name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Recent Passport Photo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</a:tr>
              <a:tr h="119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KRISHNENDU CHAKRABORTY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chakrabortykrishnandu49@gmail.com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7001555286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pic>
        <p:nvPicPr>
          <p:cNvPr id="87" name="Google Shape;87;p2" title="Linkedin profile picture.jpg"/>
          <p:cNvPicPr preferRelativeResize="0"/>
          <p:nvPr/>
        </p:nvPicPr>
        <p:blipFill rotWithShape="1">
          <a:blip r:embed="rId3">
            <a:alphaModFix/>
          </a:blip>
          <a:srcRect b="0" l="2453" r="2453" t="0"/>
          <a:stretch/>
        </p:blipFill>
        <p:spPr>
          <a:xfrm>
            <a:off x="4053024" y="3738417"/>
            <a:ext cx="762499" cy="80181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"/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of  Project –</a:t>
            </a:r>
            <a:r>
              <a:rPr lang="en-US"/>
              <a:t> </a:t>
            </a:r>
            <a:r>
              <a:rPr lang="en-US" sz="2300"/>
              <a:t>Education / Career Tech </a:t>
            </a:r>
            <a:endParaRPr i="0" sz="3300" u="none" cap="none" strike="noStrike">
              <a:solidFill>
                <a:srgbClr val="000000"/>
              </a:solidFill>
              <a:highlight>
                <a:srgbClr val="FFFF00"/>
              </a:highlight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Recommended font style and size:</a:t>
            </a:r>
            <a:b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Font Style: Arial</a:t>
            </a:r>
            <a:b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Font Size (Heading): 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Font Size (Content): 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1211000" y="0"/>
            <a:ext cx="8757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/>
              <a:t>Project Title</a:t>
            </a:r>
            <a:r>
              <a:rPr lang="en-US" sz="2300"/>
              <a:t>: AI-Powered Interview Trainer Agent </a:t>
            </a:r>
            <a:endParaRPr sz="3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/>
        </p:nvSpPr>
        <p:spPr>
          <a:xfrm>
            <a:off x="576072" y="1234440"/>
            <a:ext cx="10607100" cy="6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: </a:t>
            </a:r>
            <a:r>
              <a:rPr b="1" lang="en-US" sz="1900"/>
              <a:t>Interview Preparation</a:t>
            </a:r>
            <a:r>
              <a:rPr b="1" lang="en-US" sz="1500"/>
              <a:t>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/>
              <a:t>Job seekers, especially fresh graduates, often struggle with technical interviews due to a lack of realistic practice, personalized feedback, and confidence. Traditional mock interviews are expensive, hard to schedule, and lack objective, data-driven skill gap analysis.</a:t>
            </a:r>
            <a:r>
              <a:rPr lang="en-US" sz="2000">
                <a:solidFill>
                  <a:schemeClr val="dk1"/>
                </a:solidFill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Objective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/>
              <a:t>Build an AI-powered Interview Trainer Agent that delivers dynamic, personalized technical interview practice. </a:t>
            </a:r>
            <a:r>
              <a:rPr lang="en-US" sz="2000">
                <a:solidFill>
                  <a:schemeClr val="dk1"/>
                </a:solidFill>
              </a:rPr>
              <a:t>The solution should: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Resume &amp; JD Analysis</a:t>
            </a:r>
            <a:r>
              <a:rPr lang="en-US" sz="2000"/>
              <a:t> – Compare a candidate's uploaded resume with a target Job Description to identify missing skills.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Dynamic Question Generation</a:t>
            </a:r>
            <a:r>
              <a:rPr lang="en-US" sz="2000"/>
              <a:t> – Generate customized, technical interview questions based on the candidate's target skill and difficulty level.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Interactive Voice &amp; Text Practice</a:t>
            </a:r>
            <a:r>
              <a:rPr lang="en-US" sz="2000"/>
              <a:t> – Allow users to answer questions using speech-to-text or typing.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Real-time AI Evaluation</a:t>
            </a:r>
            <a:r>
              <a:rPr lang="en-US" sz="2000"/>
              <a:t> – Provide instant, objective scoring (0-100) and actionable feedback on the candidate's answers.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Performance Dashboard </a:t>
            </a:r>
            <a:r>
              <a:rPr lang="en-US" sz="2000"/>
              <a:t>– Track interview scores over time to visualize progress and readiness.</a:t>
            </a:r>
            <a:endParaRPr sz="2000">
              <a:solidFill>
                <a:srgbClr val="CCCCCC"/>
              </a:solidFill>
              <a:highlight>
                <a:srgbClr val="101010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4"/>
          <p:cNvSpPr txBox="1"/>
          <p:nvPr/>
        </p:nvSpPr>
        <p:spPr>
          <a:xfrm>
            <a:off x="576072" y="704088"/>
            <a:ext cx="721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5"/>
          <p:cNvSpPr txBox="1"/>
          <p:nvPr/>
        </p:nvSpPr>
        <p:spPr>
          <a:xfrm>
            <a:off x="423350" y="837526"/>
            <a:ext cx="10607100" cy="75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000"/>
              <a:t>Proposed Solution: AI-Powered Interview Trainer Agent</a:t>
            </a:r>
            <a:r>
              <a:rPr b="1" lang="en-US" sz="2000">
                <a:solidFill>
                  <a:schemeClr val="dk1"/>
                </a:solidFill>
              </a:rPr>
              <a:t> 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The proposed solution is a full-stack, AI-driven mock interview platform built using </a:t>
            </a:r>
            <a:r>
              <a:rPr b="1" lang="en-US" sz="2000"/>
              <a:t>React</a:t>
            </a:r>
            <a:r>
              <a:rPr lang="en-US" sz="2000"/>
              <a:t>, </a:t>
            </a:r>
            <a:r>
              <a:rPr b="1" lang="en-US" sz="2000"/>
              <a:t>Spring Boot</a:t>
            </a:r>
            <a:r>
              <a:rPr lang="en-US" sz="2000"/>
              <a:t>, and </a:t>
            </a:r>
            <a:r>
              <a:rPr b="1" lang="en-US" sz="2000"/>
              <a:t>IBM watsonx.ai (Granite 3)</a:t>
            </a:r>
            <a:r>
              <a:rPr lang="en-US" sz="2000"/>
              <a:t> to provide personalized, real-time interview practice.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At its core, the solution utilizes a seamless API pipeline where a React frontend captures user voice/text inputs and communicates with a secure Java Spring Boot backend. The backend orchestrates interactions with the IBM Granite-3-8b-instruct model to analyze skills, generate dynamic technical questions, and objectively evaluate the candidate's answers.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Key Features: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Resume Parsing &amp; Gap Analysis</a:t>
            </a:r>
            <a:r>
              <a:rPr lang="en-US" sz="2000"/>
              <a:t>: Extracts skills from a user's resume (PDF or text) and compares them against a Job Description to highlight skill gaps.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Dynamic Interview Engine</a:t>
            </a:r>
            <a:r>
              <a:rPr lang="en-US" sz="2000"/>
              <a:t>: Generates highly specific technical questions (e.g., React Hooks, Java Microservices) on demand.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Real-Time Evaluation</a:t>
            </a:r>
            <a:r>
              <a:rPr lang="en-US" sz="2000"/>
              <a:t>: Evaluates candidate answers against expected key points, returning a confidence score and constructive feedback.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Interactive UI</a:t>
            </a:r>
            <a:r>
              <a:rPr lang="en-US" sz="2000"/>
              <a:t>: A "gigantic", heavily animated user interface built with Framer Motion, featuring a glowing voice-recording microphone and fluid chat bubbles.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Progress Tracking</a:t>
            </a:r>
            <a:r>
              <a:rPr lang="en-US" sz="2000"/>
              <a:t>: A secure MySQL database stores historical performance, rendered on a beautiful analytics dashboard using Recharts.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Overall, this solution delivers an end-to-end intelligent career assistant that promotes confidence and technical readiness through personalized insights and real-time feedback.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5"/>
          <p:cNvSpPr txBox="1"/>
          <p:nvPr/>
        </p:nvSpPr>
        <p:spPr>
          <a:xfrm>
            <a:off x="423350" y="375825"/>
            <a:ext cx="736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 -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6"/>
          <p:cNvSpPr txBox="1"/>
          <p:nvPr/>
        </p:nvSpPr>
        <p:spPr>
          <a:xfrm>
            <a:off x="777240" y="484632"/>
            <a:ext cx="712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6"/>
          <p:cNvSpPr txBox="1"/>
          <p:nvPr/>
        </p:nvSpPr>
        <p:spPr>
          <a:xfrm>
            <a:off x="777240" y="1207008"/>
            <a:ext cx="10515600" cy="6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IBM Granite Model </a:t>
            </a:r>
            <a:r>
              <a:rPr lang="en-US" sz="2000"/>
              <a:t>- </a:t>
            </a:r>
            <a:r>
              <a:rPr i="1" lang="en-US" sz="2000"/>
              <a:t>ibm/granite-3-8b-instruct </a:t>
            </a:r>
            <a:r>
              <a:rPr lang="en-US" sz="2000"/>
              <a:t>– Used for natural language understanding, skill gap analysis, question generation, and complex answer evaluation.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IBM </a:t>
            </a:r>
            <a:r>
              <a:rPr b="1" lang="en-US" sz="2000" u="sng">
                <a:solidFill>
                  <a:schemeClr val="hlink"/>
                </a:solidFill>
                <a:hlinkClick r:id="rId3"/>
              </a:rPr>
              <a:t>watsonx.ai</a:t>
            </a:r>
            <a:r>
              <a:rPr lang="en-US" sz="2000"/>
              <a:t> -  Provides the secure, scalable API endpoint for model deployment and AI governance.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Java &amp; Spring Boot</a:t>
            </a:r>
            <a:r>
              <a:rPr lang="en-US" sz="2000"/>
              <a:t> - Powers the robust, secure backend infrastructure, managing REST APIs, database connections, and intelligent fallback systems for LLM parsing.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React &amp; TailwindCSS</a:t>
            </a:r>
            <a:r>
              <a:rPr lang="en-US" sz="2000"/>
              <a:t> - Powers the responsive, animated, and highly interactive frontend dashboard.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Framer Motion</a:t>
            </a:r>
            <a:r>
              <a:rPr lang="en-US" sz="2000"/>
              <a:t> - Used for fluid, physics-based UI animations (staggered entrances, sliding chat bubbles).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MySQL &amp; Hibernate</a:t>
            </a:r>
            <a:r>
              <a:rPr lang="en-US" sz="2000"/>
              <a:t> - Used for persistent storage of user profiles and historical interview scores.</a:t>
            </a:r>
            <a:endParaRPr sz="20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7c2a7de07_0_14"/>
          <p:cNvSpPr txBox="1"/>
          <p:nvPr>
            <p:ph type="title"/>
          </p:nvPr>
        </p:nvSpPr>
        <p:spPr>
          <a:xfrm>
            <a:off x="838200" y="3811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AI Components Used</a:t>
            </a:r>
            <a:endParaRPr b="1" sz="3000">
              <a:solidFill>
                <a:srgbClr val="CCCCCC"/>
              </a:solidFill>
              <a:highlight>
                <a:srgbClr val="10101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f7c2a7de07_0_14"/>
          <p:cNvSpPr txBox="1"/>
          <p:nvPr>
            <p:ph idx="1" type="body"/>
          </p:nvPr>
        </p:nvSpPr>
        <p:spPr>
          <a:xfrm>
            <a:off x="838200" y="10928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8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1665"/>
              <a:buAutoNum type="arabicPeriod"/>
            </a:pPr>
            <a:r>
              <a:rPr b="1" lang="en-US" sz="2590"/>
              <a:t>Resume &amp; JD Input</a:t>
            </a:r>
            <a:r>
              <a:rPr lang="en-US" sz="2590"/>
              <a:t>: Interface where users upload their resume 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90"/>
              <a:t>(PDF/Text) and target job description.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90"/>
          </a:p>
          <a:p>
            <a:pPr indent="-334328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1665"/>
              <a:buAutoNum type="arabicPeriod"/>
            </a:pPr>
            <a:r>
              <a:rPr b="1" lang="en-US" sz="2590"/>
              <a:t>IBM watsonx AI Agent (Backend Controller)</a:t>
            </a:r>
            <a:r>
              <a:rPr lang="en-US" sz="2590"/>
              <a:t>: Processes user input using 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90"/>
              <a:t>Granite models via Spring Boot to generate custom questions and skill gap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90"/>
              <a:t> reports.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90"/>
          </a:p>
          <a:p>
            <a:pPr indent="-334328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1665"/>
              <a:buAutoNum type="arabicPeriod"/>
            </a:pPr>
            <a:r>
              <a:rPr b="1" lang="en-US" sz="2590"/>
              <a:t>Name of IBM Granite model</a:t>
            </a:r>
            <a:r>
              <a:rPr lang="en-US" sz="2590"/>
              <a:t>: </a:t>
            </a:r>
            <a:r>
              <a:rPr i="1" lang="en-US" sz="2590"/>
              <a:t>ibm/granite-3-8b-instruct</a:t>
            </a:r>
            <a:r>
              <a:rPr lang="en-US" sz="2590"/>
              <a:t> → Fast, efficient,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90"/>
              <a:t> and highly capable of adhering to strict JSON outputs for seamless 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90"/>
              <a:t>backend integration.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90"/>
          </a:p>
          <a:p>
            <a:pPr indent="-334328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1665"/>
              <a:buAutoNum type="arabicPeriod"/>
            </a:pPr>
            <a:r>
              <a:rPr b="1" lang="en-US" sz="2590"/>
              <a:t>Chat Output / Evaluator</a:t>
            </a:r>
            <a:r>
              <a:rPr lang="en-US" sz="2590"/>
              <a:t>: Displays AI-generated interview questions and 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90"/>
              <a:t>provides instant score-based feedback (0-100) on user answers.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90"/>
          </a:p>
          <a:p>
            <a:pPr indent="-334328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1665"/>
              <a:buAutoNum type="arabicPeriod"/>
            </a:pPr>
            <a:r>
              <a:rPr b="1" lang="en-US" sz="2590"/>
              <a:t>Speech-to-Text Integration</a:t>
            </a:r>
            <a:r>
              <a:rPr lang="en-US" sz="2590"/>
              <a:t>: Web Speech API utilized on the frontend to </a:t>
            </a:r>
            <a:endParaRPr sz="2590"/>
          </a:p>
          <a:p>
            <a:pPr indent="0" lvl="0" marL="4572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90"/>
              <a:t>allow natural, verbal interview responses.</a:t>
            </a:r>
            <a:endParaRPr sz="259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59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8"/>
          <p:cNvSpPr/>
          <p:nvPr/>
        </p:nvSpPr>
        <p:spPr>
          <a:xfrm>
            <a:off x="535575" y="-72050"/>
            <a:ext cx="80001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lang="en-US" sz="2800"/>
              <a:t>Backend AI Orchestration (Spring </a:t>
            </a:r>
            <a:r>
              <a:rPr b="1" lang="en-US" sz="2800">
                <a:solidFill>
                  <a:schemeClr val="dk1"/>
                </a:solidFill>
              </a:rPr>
              <a:t>Boot)</a:t>
            </a:r>
            <a:endParaRPr b="1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&#10;&#10;AI-generated content may be incorrect." id="120" name="Google Shape;12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570" y="1139263"/>
            <a:ext cx="11468100" cy="550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850" y="418746"/>
            <a:ext cx="12192002" cy="6439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574" y="771750"/>
            <a:ext cx="11618026" cy="60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9"/>
          <p:cNvSpPr txBox="1"/>
          <p:nvPr/>
        </p:nvSpPr>
        <p:spPr>
          <a:xfrm>
            <a:off x="459413" y="299514"/>
            <a:ext cx="9317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Agentic AI in the solution</a:t>
            </a: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637842" y="393293"/>
            <a:ext cx="7406700" cy="6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000"/>
              <a:t> 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Agentic AI </a:t>
            </a:r>
            <a:r>
              <a:rPr lang="en-US" sz="2000"/>
              <a:t>enables the Interview Trainer to function as an intelligent, autonomous technical interviewer rather than a simple chatbot. Using </a:t>
            </a:r>
            <a:r>
              <a:rPr b="1" lang="en-US" sz="2000"/>
              <a:t>IBM watsonx.ai</a:t>
            </a:r>
            <a:r>
              <a:rPr lang="en-US" sz="2000"/>
              <a:t> and </a:t>
            </a:r>
            <a:r>
              <a:rPr b="1" lang="en-US" sz="2000"/>
              <a:t>IBM Granite models</a:t>
            </a:r>
            <a:r>
              <a:rPr lang="en-US" sz="2000"/>
              <a:t>, the system dynamically adapts to the user.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Instead of a static list of questions, the AI acts as an active evaluator. It understands context (the user's chosen skill and difficulty level), generates a unique question, and establishes "</a:t>
            </a:r>
            <a:r>
              <a:rPr b="1" lang="en-US" sz="2000"/>
              <a:t>Expected Key Points</a:t>
            </a:r>
            <a:r>
              <a:rPr lang="en-US" sz="2000"/>
              <a:t>" hidden from the user. When the user answers, the AI autonomously compares the response against those key points to generate an objective score and tailored feedback.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The system also includes </a:t>
            </a:r>
            <a:r>
              <a:rPr b="1" lang="en-US" sz="2000"/>
              <a:t>Resilient Fallback Mechanisms</a:t>
            </a:r>
            <a:r>
              <a:rPr lang="en-US" sz="2000"/>
              <a:t> in the backend; if the AI encounters an error or network limit, the backend autonomously recovers to ensure a seamless user experience.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Overall, Agentic AI makes the system proactive and adaptive, acting like a </a:t>
            </a:r>
            <a:r>
              <a:rPr b="1" lang="en-US" sz="2000"/>
              <a:t>real-world hiring manager</a:t>
            </a:r>
            <a:r>
              <a:rPr lang="en-US" sz="2000"/>
              <a:t> that helps users improve their communication and technical skills.</a:t>
            </a:r>
            <a:endParaRPr sz="2000">
              <a:solidFill>
                <a:srgbClr val="CCCCCC"/>
              </a:solidFill>
              <a:highlight>
                <a:srgbClr val="101010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0"/>
          <p:cNvSpPr txBox="1"/>
          <p:nvPr/>
        </p:nvSpPr>
        <p:spPr>
          <a:xfrm>
            <a:off x="777250" y="102795"/>
            <a:ext cx="712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Novelty and Uniqueness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0"/>
          <p:cNvSpPr txBox="1"/>
          <p:nvPr/>
        </p:nvSpPr>
        <p:spPr>
          <a:xfrm>
            <a:off x="777240" y="725158"/>
            <a:ext cx="11301900" cy="6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/>
              <a:t>The proposed Interview Trainer Agent stands out by combining </a:t>
            </a:r>
            <a:r>
              <a:rPr b="1" lang="en-US" sz="2000"/>
              <a:t>Generative AI, Voice Interaction, and Full-Stack Engineering </a:t>
            </a:r>
            <a:r>
              <a:rPr lang="en-US" sz="2000"/>
              <a:t>into a single intelligent system.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/>
              <a:t>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Dynamic Questioning</a:t>
            </a:r>
            <a:r>
              <a:rPr lang="en-US" sz="2000"/>
              <a:t>: Instead of hardcoded questions, every interview session is uniquely generated based on the specific skill and difficulty selected.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Objective AI Evaluation</a:t>
            </a:r>
            <a:r>
              <a:rPr lang="en-US" sz="2000"/>
              <a:t>: The system doesn't just chat; it grades answers on a 0-100 scale based on predefined "Key Points," providing measurable metrics for improvement.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Robust Backend Architecture</a:t>
            </a:r>
            <a:r>
              <a:rPr lang="en-US" sz="2000"/>
              <a:t>: Unlike simple frontend wrappers, this uses a Java Spring Boot backend with intelligent JSON parsing and error-fallback mechanisms for enterprise-grade reliability.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Multi-Modal Input</a:t>
            </a:r>
            <a:r>
              <a:rPr lang="en-US" sz="2000"/>
              <a:t>: Supports seamless typing and voice-to-text recording, simulating a real verbal interview environment.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Premium UX/UI</a:t>
            </a:r>
            <a:r>
              <a:rPr lang="en-US" sz="2000"/>
              <a:t>: Features "gigantic" modern styling, frosted glassmorphism, and fluid Framer Motion animations for a highly engaging user experience.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This makes the solution a smart, adaptive, and proactive career coach, not just a static quiz app.</a:t>
            </a:r>
            <a:endParaRPr sz="1650">
              <a:solidFill>
                <a:srgbClr val="CCCCCC"/>
              </a:solidFill>
              <a:highlight>
                <a:srgbClr val="101010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1"/>
          <p:cNvSpPr/>
          <p:nvPr/>
        </p:nvSpPr>
        <p:spPr>
          <a:xfrm>
            <a:off x="1218724" y="340429"/>
            <a:ext cx="64446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Hub Link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1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lang="en-US" sz="2200" u="sng">
                <a:solidFill>
                  <a:schemeClr val="hlink"/>
                </a:solidFill>
                <a:hlinkClick r:id="rId3"/>
              </a:rPr>
              <a:t>https://github.com/KrishnenduChakraborty49/Interview-Trainer-Agent.git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41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41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41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2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2"/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b="1" lang="en-US" sz="2000"/>
              <a:t>Video &amp; Facial Expression Analysis</a:t>
            </a:r>
            <a:r>
              <a:rPr lang="en-US" sz="2000"/>
              <a:t> – The system can be integrated with computer vision libraries (like OpenCV or WebRTC) to record and analyze a candidate's webcam feed during the interview. By monitoring facial expressions, eye contact, posture, and micro-expressions, the AI can provide comprehensive feedback on non-verbal communication skills. This would allow the Agent to train candidates not just on what they say, but how they present themselves, making the mock interview exponentially more realistic.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b="1" lang="en-US" sz="2000"/>
              <a:t>AI-Powered Voice Synthesis &amp; Multi-Lingual Support – </a:t>
            </a:r>
            <a:r>
              <a:rPr lang="en-US" sz="2000"/>
              <a:t>Currently</a:t>
            </a:r>
            <a:r>
              <a:rPr b="1" lang="en-US" sz="2000"/>
              <a:t>,</a:t>
            </a:r>
            <a:r>
              <a:rPr lang="en-US" sz="2000"/>
              <a:t> the user speaks to the AI, but the AI replies via text. Enhancing the system with advanced Text-to-Speech (TTS) models would give the AI interviewer a realistic, human-sounding voice, creating a fully immersive conversational experience without the need to read the screen. Additionally, integrating real-time translation agents would allow the Interview Trainer to conduct mock interviews in multiple languages, making it a globally accessible tool for non-native English speakers preparing for international roles.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CCCCCC"/>
              </a:solidFill>
              <a:highlight>
                <a:srgbClr val="101010"/>
              </a:highlight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60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1" sz="185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42"/>
          <p:cNvSpPr/>
          <p:nvPr/>
        </p:nvSpPr>
        <p:spPr>
          <a:xfrm>
            <a:off x="1106274" y="3504741"/>
            <a:ext cx="7468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42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42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3"/>
          <p:cNvSpPr txBox="1"/>
          <p:nvPr/>
        </p:nvSpPr>
        <p:spPr>
          <a:xfrm>
            <a:off x="327949" y="207380"/>
            <a:ext cx="609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3"/>
          <p:cNvSpPr txBox="1"/>
          <p:nvPr/>
        </p:nvSpPr>
        <p:spPr>
          <a:xfrm>
            <a:off x="327948" y="661186"/>
            <a:ext cx="639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4325" y="1351225"/>
            <a:ext cx="10222026" cy="533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44" title="Screenshot 2026-07-07 205828.png"/>
          <p:cNvPicPr preferRelativeResize="0"/>
          <p:nvPr/>
        </p:nvPicPr>
        <p:blipFill rotWithShape="1">
          <a:blip r:embed="rId3">
            <a:alphaModFix/>
          </a:blip>
          <a:srcRect b="0" l="2489" r="2499" t="0"/>
          <a:stretch/>
        </p:blipFill>
        <p:spPr>
          <a:xfrm>
            <a:off x="2512736" y="1712637"/>
            <a:ext cx="7177552" cy="4658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44"/>
          <p:cNvSpPr txBox="1"/>
          <p:nvPr/>
        </p:nvSpPr>
        <p:spPr>
          <a:xfrm>
            <a:off x="176696" y="226391"/>
            <a:ext cx="609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4"/>
          <p:cNvSpPr txBox="1"/>
          <p:nvPr/>
        </p:nvSpPr>
        <p:spPr>
          <a:xfrm>
            <a:off x="496843" y="800470"/>
            <a:ext cx="5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2025-07-08T05:06:56Z</dcterms:created>
  <dc:creator>Manda Anirudh</dc:creator>
</cp:coreProperties>
</file>